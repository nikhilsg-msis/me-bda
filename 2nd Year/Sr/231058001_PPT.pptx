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66" r:id="rId3"/>
    <p:sldId id="257" r:id="rId4"/>
    <p:sldId id="258" r:id="rId5"/>
    <p:sldId id="259" r:id="rId6"/>
    <p:sldId id="260" r:id="rId7"/>
    <p:sldId id="261" r:id="rId8"/>
    <p:sldId id="267" r:id="rId9"/>
    <p:sldId id="268" r:id="rId10"/>
    <p:sldId id="269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BF83C7-C288-4044-A182-EA6C2D1BE219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01B111-BE64-4EA1-9F7C-0EC5198F0D5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9542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1B111-BE64-4EA1-9F7C-0EC5198F0D5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1307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805487D2-4F82-404A-A7F9-F9143B722CE1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7A3BDBA9-3BF8-47C1-88E1-21F272229B5B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irleywu@juniper.net" TargetMode="External"/><Relationship Id="rId2" Type="http://schemas.openxmlformats.org/officeDocument/2006/relationships/hyperlink" Target="mailto:drachita@juniper.net" TargetMode="Externa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parkbyexamples.com/spark/what-is-spark-job/" TargetMode="External"/><Relationship Id="rId2" Type="http://schemas.openxmlformats.org/officeDocument/2006/relationships/hyperlink" Target="https://www.juniper.net/documentation/us/en/software/mist/mist-aiops/topics/topic-map/marvis-minis-overview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atikbarjatya.medium.com/demystifying-spark-jobs-stages-and-tasks-a-simplified-guide-f35da5ab4aa6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3284984"/>
            <a:ext cx="6400800" cy="1224136"/>
          </a:xfrm>
        </p:spPr>
        <p:txBody>
          <a:bodyPr>
            <a:normAutofit/>
          </a:bodyPr>
          <a:lstStyle/>
          <a:p>
            <a:r>
              <a:rPr lang="en-US" sz="3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NIDHI S</a:t>
            </a:r>
          </a:p>
          <a:p>
            <a:r>
              <a:rPr lang="en-US" sz="3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231058001</a:t>
            </a:r>
          </a:p>
          <a:p>
            <a:endParaRPr lang="en-IN" sz="3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3568" y="116632"/>
            <a:ext cx="8064896" cy="2808312"/>
          </a:xfrm>
        </p:spPr>
        <p:txBody>
          <a:bodyPr>
            <a:normAutofit/>
          </a:bodyPr>
          <a:lstStyle/>
          <a:p>
            <a:r>
              <a:rPr lang="en-US" dirty="0" smtClean="0"/>
              <a:t>Analysis of </a:t>
            </a:r>
            <a:r>
              <a:rPr lang="en-US" dirty="0" err="1" smtClean="0"/>
              <a:t>Marvis</a:t>
            </a:r>
            <a:r>
              <a:rPr lang="en-US" dirty="0" smtClean="0"/>
              <a:t> Minis Connectivity Test Results</a:t>
            </a:r>
            <a:br>
              <a:rPr lang="en-US" dirty="0" smtClean="0"/>
            </a:br>
            <a:r>
              <a:rPr lang="en-US" dirty="0" smtClean="0">
                <a:solidFill>
                  <a:schemeClr val="tx1"/>
                </a:solidFill>
              </a:rPr>
              <a:t>Juniper Networks</a:t>
            </a:r>
            <a:br>
              <a:rPr lang="en-US" dirty="0" smtClean="0">
                <a:solidFill>
                  <a:schemeClr val="tx1"/>
                </a:solidFill>
              </a:rPr>
            </a:b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2843808" y="4611820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Project Start Date: 10/06/2024</a:t>
            </a:r>
            <a:endParaRPr lang="en-IN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0261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Contacts</a:t>
            </a:r>
            <a:endParaRPr lang="en-IN" dirty="0"/>
          </a:p>
        </p:txBody>
      </p:sp>
      <p:sp>
        <p:nvSpPr>
          <p:cNvPr id="7" name="Content Placeholder 4"/>
          <p:cNvSpPr>
            <a:spLocks noGrp="1"/>
          </p:cNvSpPr>
          <p:nvPr>
            <p:ph sz="half" idx="1"/>
          </p:nvPr>
        </p:nvSpPr>
        <p:spPr>
          <a:xfrm>
            <a:off x="301752" y="1628800"/>
            <a:ext cx="4054224" cy="442452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 R Details:</a:t>
            </a:r>
            <a:endParaRPr lang="en-IN" dirty="0"/>
          </a:p>
          <a:p>
            <a:pPr marL="0" indent="0">
              <a:buNone/>
            </a:pPr>
            <a:r>
              <a:rPr lang="en-US" dirty="0" err="1" smtClean="0"/>
              <a:t>Rachita</a:t>
            </a:r>
            <a:r>
              <a:rPr lang="en-US" dirty="0" smtClean="0"/>
              <a:t> </a:t>
            </a:r>
            <a:r>
              <a:rPr lang="en-US" dirty="0"/>
              <a:t>Dash</a:t>
            </a:r>
            <a:endParaRPr lang="en-IN" dirty="0"/>
          </a:p>
          <a:p>
            <a:pPr marL="0" indent="0">
              <a:buNone/>
            </a:pPr>
            <a:r>
              <a:rPr lang="en-US" u="sng" dirty="0" smtClean="0">
                <a:hlinkClick r:id="rId2"/>
              </a:rPr>
              <a:t>drachita@juniper.net</a:t>
            </a:r>
            <a:endParaRPr lang="en-IN" dirty="0"/>
          </a:p>
        </p:txBody>
      </p:sp>
      <p:sp>
        <p:nvSpPr>
          <p:cNvPr id="8" name="Content Placeholder 5"/>
          <p:cNvSpPr>
            <a:spLocks noGrp="1"/>
          </p:cNvSpPr>
          <p:nvPr>
            <p:ph sz="half" idx="2"/>
          </p:nvPr>
        </p:nvSpPr>
        <p:spPr>
          <a:xfrm>
            <a:off x="4800600" y="1556792"/>
            <a:ext cx="4038600" cy="4496536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Guide at </a:t>
            </a:r>
            <a:r>
              <a:rPr lang="en-US" b="1" dirty="0" smtClean="0"/>
              <a:t>Industry: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Shirley </a:t>
            </a:r>
            <a:r>
              <a:rPr lang="en-US" dirty="0"/>
              <a:t>Wu</a:t>
            </a:r>
            <a:endParaRPr lang="en-IN" dirty="0"/>
          </a:p>
          <a:p>
            <a:pPr marL="0" indent="0">
              <a:buNone/>
            </a:pPr>
            <a:r>
              <a:rPr lang="en-US" dirty="0" smtClean="0"/>
              <a:t>Software </a:t>
            </a:r>
            <a:r>
              <a:rPr lang="en-US" dirty="0"/>
              <a:t>Engineering Senior Director</a:t>
            </a:r>
            <a:endParaRPr lang="en-IN" dirty="0"/>
          </a:p>
          <a:p>
            <a:pPr marL="0" indent="0">
              <a:buNone/>
            </a:pPr>
            <a:r>
              <a:rPr lang="en-US" u="sng" dirty="0" smtClean="0">
                <a:hlinkClick r:id="rId3"/>
              </a:rPr>
              <a:t>shirleywu@juniper.net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888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Contents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Methodology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Work 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Done</a:t>
            </a:r>
          </a:p>
          <a:p>
            <a:r>
              <a:rPr lang="en-US" sz="2800" smtClean="0">
                <a:latin typeface="Times New Roman" pitchFamily="18" charset="0"/>
                <a:cs typeface="Times New Roman" pitchFamily="18" charset="0"/>
              </a:rPr>
              <a:t>Results</a:t>
            </a: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Future Work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217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008112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Introduction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412776"/>
            <a:ext cx="8784976" cy="5400600"/>
          </a:xfrm>
        </p:spPr>
        <p:txBody>
          <a:bodyPr>
            <a:normAutofit/>
          </a:bodyPr>
          <a:lstStyle/>
          <a:p>
            <a:pPr algn="just"/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Marvis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Minis is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 cloud service that orchestrates synthetic tests on network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devices.</a:t>
            </a:r>
          </a:p>
          <a:p>
            <a:pPr algn="just"/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Automates synthetic tests on APs, switches and gateways for seamless network validation.</a:t>
            </a: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It can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assist in identifying and fixing problems before they affect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the actual users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It 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automatically generates the tests to perform after learning about all the switches, APs, WLANs and active VLANs in a site</a:t>
            </a:r>
          </a:p>
        </p:txBody>
      </p:sp>
    </p:spTree>
    <p:extLst>
      <p:ext uri="{BB962C8B-B14F-4D97-AF65-F5344CB8AC3E}">
        <p14:creationId xmlns:p14="http://schemas.microsoft.com/office/powerpoint/2010/main" val="786039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16632"/>
            <a:ext cx="8712968" cy="6480720"/>
          </a:xfrm>
        </p:spPr>
        <p:txBody>
          <a:bodyPr/>
          <a:lstStyle/>
          <a:p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The validation findings are visible on the </a:t>
            </a:r>
            <a:r>
              <a:rPr lang="en-IN" sz="2800" dirty="0" err="1">
                <a:latin typeface="Times New Roman" pitchFamily="18" charset="0"/>
                <a:cs typeface="Times New Roman" pitchFamily="18" charset="0"/>
              </a:rPr>
              <a:t>Marvis</a:t>
            </a:r>
            <a:r>
              <a:rPr lang="en-IN" sz="2800" dirty="0">
                <a:latin typeface="Times New Roman" pitchFamily="18" charset="0"/>
                <a:cs typeface="Times New Roman" pitchFamily="18" charset="0"/>
              </a:rPr>
              <a:t> Minis </a:t>
            </a:r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dashboard</a:t>
            </a:r>
          </a:p>
          <a:p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HP\Downloads\marvis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628800"/>
            <a:ext cx="8621611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0161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Methodology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Content Placeholder 3" descr="A diagram of a computer program&#10;&#10;Description automatically generated"/>
          <p:cNvPicPr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844824"/>
            <a:ext cx="8496944" cy="41764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8539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352928" cy="72008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Work Done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09296" y="1484784"/>
            <a:ext cx="8928992" cy="489654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8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IN" sz="2800" dirty="0" smtClean="0">
                <a:latin typeface="Times New Roman" pitchFamily="18" charset="0"/>
                <a:cs typeface="Times New Roman" pitchFamily="18" charset="0"/>
              </a:rPr>
              <a:t>Enhanced Test Scope Generation Spark Job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Investigated patterns in failures and timeouts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Analyzed retries and test duration trends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Troubleshooting missing Reports even when the tests are triggered</a:t>
            </a:r>
          </a:p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Root Cause Analysis of Failures (DNS, DHCP, ARP, CURL)</a:t>
            </a:r>
          </a:p>
          <a:p>
            <a:pPr marL="0" indent="0">
              <a:buNone/>
            </a:pPr>
            <a:endParaRPr lang="en-US" sz="2800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8753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IN" dirty="0"/>
          </a:p>
        </p:txBody>
      </p:sp>
      <p:pic>
        <p:nvPicPr>
          <p:cNvPr id="6" name="Content Placeholder 5" descr="C:\Users\HP\Downloads\WhatsApp Image 2024-12-28 at 6.20.34 PM_1.jpeg"/>
          <p:cNvPicPr>
            <a:picLocks noGrp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988840"/>
            <a:ext cx="3960440" cy="3672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HP\Downloads\WhatsApp Image 2024-12-28 at 6.20.34 PM.jpe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988840"/>
            <a:ext cx="4032448" cy="374441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611560" y="5805264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Pie and Bar chart representing the Overall test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834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611560" y="5805264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Bar chart representing the test duration and the number of retries</a:t>
            </a:r>
            <a:endParaRPr lang="en-IN" dirty="0"/>
          </a:p>
        </p:txBody>
      </p:sp>
      <p:pic>
        <p:nvPicPr>
          <p:cNvPr id="9" name="Picture 8" descr="C:\Users\HP\Downloads\WhatsApp Image 2024-12-28 at 6.20.33 PM (3)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9" y="1700808"/>
            <a:ext cx="4104455" cy="403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 descr="C:\Users\HP\Downloads\WhatsApp Image 2024-12-28 at 6.20.33 PM (2).jpe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697384"/>
            <a:ext cx="4320480" cy="40358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1925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251520" y="5805264"/>
            <a:ext cx="4320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. Bar and Pie chart representing the test count with and without AP response</a:t>
            </a:r>
            <a:endParaRPr lang="en-IN" dirty="0"/>
          </a:p>
        </p:txBody>
      </p:sp>
      <p:pic>
        <p:nvPicPr>
          <p:cNvPr id="6" name="Picture 5" descr="C:\Users\HP\Downloads\WhatsApp Image 2024-12-28 at 6.20.33 PM (1).jpe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556792"/>
            <a:ext cx="4248472" cy="4104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:\Users\HP\Downloads\WhatsApp Image 2024-12-28 at 6.20.33 PM.jpe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7" y="1556792"/>
            <a:ext cx="4176464" cy="410445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4788024" y="5805264"/>
            <a:ext cx="41044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/>
              <a:t>Pie and Bar chart representing the Failure result distribution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3055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16632"/>
            <a:ext cx="8229600" cy="1008112"/>
          </a:xfrm>
        </p:spPr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Future Work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79512" y="1412776"/>
            <a:ext cx="8856984" cy="5256584"/>
          </a:xfrm>
        </p:spPr>
        <p:txBody>
          <a:bodyPr>
            <a:normAutofit/>
          </a:bodyPr>
          <a:lstStyle/>
          <a:p>
            <a:pPr lvl="0"/>
            <a:r>
              <a:rPr lang="en-IN" dirty="0">
                <a:latin typeface="Times New Roman" pitchFamily="18" charset="0"/>
                <a:cs typeface="Times New Roman" pitchFamily="18" charset="0"/>
              </a:rPr>
              <a:t>Analysing trends in latency values to identify normal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behaviour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patterns over time.</a:t>
            </a:r>
          </a:p>
          <a:p>
            <a:pPr lvl="0"/>
            <a:r>
              <a:rPr lang="en-IN" dirty="0">
                <a:latin typeface="Times New Roman" pitchFamily="18" charset="0"/>
                <a:cs typeface="Times New Roman" pitchFamily="18" charset="0"/>
              </a:rPr>
              <a:t>Identify and flag outliers in latency values for deeper investigation.</a:t>
            </a:r>
          </a:p>
          <a:p>
            <a:pPr lvl="0"/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Performing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the latency analysis on a per URL basis to uncover potential URL specific issues.</a:t>
            </a:r>
          </a:p>
          <a:p>
            <a:pPr lvl="0"/>
            <a:r>
              <a:rPr lang="en-IN" dirty="0">
                <a:latin typeface="Times New Roman" pitchFamily="18" charset="0"/>
                <a:cs typeface="Times New Roman" pitchFamily="18" charset="0"/>
              </a:rPr>
              <a:t>Investigating latency patterns across different VLANs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and sites to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detect any anomalies tied to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VLAN-Site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specific configurations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Using statistical methods like mean, </a:t>
            </a:r>
            <a:r>
              <a:rPr lang="en-IN" dirty="0" smtClean="0">
                <a:latin typeface="Times New Roman" pitchFamily="18" charset="0"/>
                <a:cs typeface="Times New Roman" pitchFamily="18" charset="0"/>
              </a:rPr>
              <a:t>variance </a:t>
            </a:r>
            <a:r>
              <a:rPr lang="en-IN" dirty="0">
                <a:latin typeface="Times New Roman" pitchFamily="18" charset="0"/>
                <a:cs typeface="Times New Roman" pitchFamily="18" charset="0"/>
              </a:rPr>
              <a:t>and standard deviation to identify outliers.</a:t>
            </a:r>
          </a:p>
          <a:p>
            <a:pPr lvl="0"/>
            <a:endParaRPr lang="en-IN" sz="28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179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sz="4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251520" y="1700808"/>
            <a:ext cx="8784976" cy="4752528"/>
          </a:xfrm>
        </p:spPr>
        <p:txBody>
          <a:bodyPr/>
          <a:lstStyle/>
          <a:p>
            <a:pPr algn="just"/>
            <a:r>
              <a:rPr lang="en-US" sz="2800" u="sng" dirty="0">
                <a:latin typeface="Times New Roman" pitchFamily="18" charset="0"/>
                <a:cs typeface="Times New Roman" pitchFamily="18" charset="0"/>
                <a:hlinkClick r:id="rId2"/>
              </a:rPr>
              <a:t>https://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  <a:hlinkClick r:id="rId2"/>
              </a:rPr>
              <a:t>www.juniper.net/documentation/us/en/software/mist/mist-aiops/topics/topic-map/marvis-minis-overview.html</a:t>
            </a:r>
            <a:endParaRPr lang="en-US" sz="2800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u="sng" dirty="0" smtClean="0">
                <a:latin typeface="Times New Roman" pitchFamily="18" charset="0"/>
                <a:cs typeface="Times New Roman" pitchFamily="18" charset="0"/>
                <a:hlinkClick r:id="rId3"/>
              </a:rPr>
              <a:t>https</a:t>
            </a:r>
            <a:r>
              <a:rPr lang="en-US" sz="2800" u="sng" dirty="0">
                <a:latin typeface="Times New Roman" pitchFamily="18" charset="0"/>
                <a:cs typeface="Times New Roman" pitchFamily="18" charset="0"/>
                <a:hlinkClick r:id="rId3"/>
              </a:rPr>
              <a:t>://sparkbyexamples.com/spark/what-is-spark-job</a:t>
            </a:r>
            <a:r>
              <a:rPr lang="en-US" sz="2800" u="sng" dirty="0" smtClean="0">
                <a:latin typeface="Times New Roman" pitchFamily="18" charset="0"/>
                <a:cs typeface="Times New Roman" pitchFamily="18" charset="0"/>
                <a:hlinkClick r:id="rId3"/>
              </a:rPr>
              <a:t>/</a:t>
            </a:r>
            <a:endParaRPr lang="en-US" sz="2800" u="sng" dirty="0" smtClean="0"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buNone/>
            </a:pP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2800" u="sng" dirty="0" smtClean="0">
                <a:latin typeface="Times New Roman" pitchFamily="18" charset="0"/>
                <a:cs typeface="Times New Roman" pitchFamily="18" charset="0"/>
                <a:hlinkClick r:id="rId4"/>
              </a:rPr>
              <a:t>https</a:t>
            </a:r>
            <a:r>
              <a:rPr lang="en-US" sz="2800" u="sng" dirty="0">
                <a:latin typeface="Times New Roman" pitchFamily="18" charset="0"/>
                <a:cs typeface="Times New Roman" pitchFamily="18" charset="0"/>
                <a:hlinkClick r:id="rId4"/>
              </a:rPr>
              <a:t>://pratikbarjatya.medium.com/demystifying-spark-jobs-stages-and-tasks-a-simplified-guide-f35da5ab4aa6</a:t>
            </a:r>
            <a:endParaRPr lang="en-IN" sz="28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830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3801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583</TotalTime>
  <Words>299</Words>
  <Application>Microsoft Office PowerPoint</Application>
  <PresentationFormat>On-screen Show (4:3)</PresentationFormat>
  <Paragraphs>57</Paragraphs>
  <Slides>13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Civic</vt:lpstr>
      <vt:lpstr>Analysis of Marvis Minis Connectivity Test Results Juniper Networks </vt:lpstr>
      <vt:lpstr>Key Contacts</vt:lpstr>
      <vt:lpstr>Contents</vt:lpstr>
      <vt:lpstr>Introduction</vt:lpstr>
      <vt:lpstr>PowerPoint Presentation</vt:lpstr>
      <vt:lpstr>Methodology</vt:lpstr>
      <vt:lpstr>Work Done</vt:lpstr>
      <vt:lpstr>Results</vt:lpstr>
      <vt:lpstr>Results</vt:lpstr>
      <vt:lpstr>Results</vt:lpstr>
      <vt:lpstr>Future Work</vt:lpstr>
      <vt:lpstr>References</vt:lpstr>
      <vt:lpstr>PowerPoint Presentation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of Marvis Minis Connectivity Test Results</dc:title>
  <dc:creator>HP</dc:creator>
  <cp:lastModifiedBy>HP</cp:lastModifiedBy>
  <cp:revision>46</cp:revision>
  <dcterms:created xsi:type="dcterms:W3CDTF">2024-12-27T20:45:25Z</dcterms:created>
  <dcterms:modified xsi:type="dcterms:W3CDTF">2024-12-28T15:54:56Z</dcterms:modified>
</cp:coreProperties>
</file>